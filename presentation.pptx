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278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666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77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6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89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65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346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59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577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82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86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31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696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805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793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4377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82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C9D345C-3030-4E84-9DC8-AD7BC6D763D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F892656-472D-4A7B-ADAC-F2C1EF18B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4554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ntiago Bernabéu at night">
            <a:extLst>
              <a:ext uri="{FF2B5EF4-FFF2-40B4-BE49-F238E27FC236}">
                <a16:creationId xmlns:a16="http://schemas.microsoft.com/office/drawing/2014/main" id="{8A3A3866-F728-9A84-71D4-EBD0CBA16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E45E33-8602-FB69-4AC0-DB79365FB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IN" b="1" dirty="0"/>
              <a:t>Smart Stadium Experience Enhancement System</a:t>
            </a:r>
            <a:br>
              <a:rPr lang="en-IN" dirty="0"/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327EA-B637-9945-4DD2-B6067B94F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73683"/>
            <a:ext cx="9144000" cy="1098395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MSc Cloud Computing</a:t>
            </a:r>
          </a:p>
          <a:p>
            <a:r>
              <a:rPr lang="en-IN" dirty="0">
                <a:solidFill>
                  <a:srgbClr val="FFFFFF"/>
                </a:solidFill>
              </a:rPr>
              <a:t>Fog and Edge Computing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6781F-4B54-2682-AFFB-2A9E24479990}"/>
              </a:ext>
            </a:extLst>
          </p:cNvPr>
          <p:cNvSpPr txBox="1"/>
          <p:nvPr/>
        </p:nvSpPr>
        <p:spPr>
          <a:xfrm>
            <a:off x="8652387" y="5506065"/>
            <a:ext cx="3195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John Joy Kandamkulathy</a:t>
            </a:r>
          </a:p>
          <a:p>
            <a:r>
              <a:rPr lang="en-IN" dirty="0"/>
              <a:t>x24202321</a:t>
            </a:r>
          </a:p>
        </p:txBody>
      </p:sp>
    </p:spTree>
    <p:extLst>
      <p:ext uri="{BB962C8B-B14F-4D97-AF65-F5344CB8AC3E}">
        <p14:creationId xmlns:p14="http://schemas.microsoft.com/office/powerpoint/2010/main" val="4207669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1D15-9131-0B4D-4017-A47868F16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179" y="714375"/>
            <a:ext cx="3332955" cy="5076826"/>
          </a:xfrm>
        </p:spPr>
        <p:txBody>
          <a:bodyPr anchor="ctr">
            <a:normAutofit/>
          </a:bodyPr>
          <a:lstStyle/>
          <a:p>
            <a:r>
              <a:rPr lang="en-IN" sz="4000" b="1" dirty="0"/>
              <a:t>Objective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136A9-49F9-4DA0-A741-F065B0FA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3356" y="0"/>
            <a:ext cx="7558643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12F6C7-0423-4B6F-AECE-710C84891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446539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208205-03EE-4EC8-9C34-59270C188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2336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4CA0-048D-BA4F-F8FC-FC15FABC8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046" y="714375"/>
            <a:ext cx="6253751" cy="5076825"/>
          </a:xfrm>
        </p:spPr>
        <p:txBody>
          <a:bodyPr>
            <a:normAutofit/>
          </a:bodyPr>
          <a:lstStyle/>
          <a:p>
            <a:r>
              <a:rPr lang="en-US" dirty="0"/>
              <a:t>Modern stadiums host tens of thousands of occupants simultaneously</a:t>
            </a:r>
          </a:p>
          <a:p>
            <a:r>
              <a:rPr lang="en-US" dirty="0"/>
              <a:t>Real-time crowd management, environmental monitoring and service delivery require instant data processing</a:t>
            </a:r>
          </a:p>
          <a:p>
            <a:r>
              <a:rPr lang="en-US" dirty="0"/>
              <a:t>High-frequency sensor data from hundreds of devices generates significant bandwidth overhead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69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F5EB9-AD7D-E232-5F13-41DC873A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106" y="609600"/>
            <a:ext cx="3369133" cy="36428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 b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A96DB2-F228-015E-D605-70B1927EEA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15" y="1295234"/>
            <a:ext cx="6915663" cy="4271220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591645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ED1EA-EC70-267B-A821-F8DE3462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267326"/>
          </a:xfrm>
        </p:spPr>
        <p:txBody>
          <a:bodyPr/>
          <a:lstStyle/>
          <a:p>
            <a:r>
              <a:rPr lang="en-IN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9419B-706E-5247-137B-973B3AF5F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26" y="1267326"/>
            <a:ext cx="11662611" cy="5590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Sensor Layer</a:t>
            </a:r>
          </a:p>
          <a:p>
            <a:r>
              <a:rPr lang="en-IN" dirty="0"/>
              <a:t>3 mock IoT sensors generating live data</a:t>
            </a:r>
          </a:p>
          <a:p>
            <a:r>
              <a:rPr lang="en-IN" dirty="0"/>
              <a:t>Air quality, noise level, concession queue wait time</a:t>
            </a:r>
          </a:p>
          <a:p>
            <a:r>
              <a:rPr lang="en-IN" dirty="0"/>
              <a:t>Publish via MQTT to local broker every 2–5 seconds</a:t>
            </a:r>
          </a:p>
          <a:p>
            <a:pPr marL="0" indent="0">
              <a:buNone/>
            </a:pPr>
            <a:r>
              <a:rPr lang="en-IN" b="1" dirty="0"/>
              <a:t>Fog Layer</a:t>
            </a:r>
          </a:p>
          <a:p>
            <a:r>
              <a:rPr lang="en-IN" dirty="0"/>
              <a:t>Virtual fog node subscribes to all sensor topics</a:t>
            </a:r>
          </a:p>
          <a:p>
            <a:r>
              <a:rPr lang="en-IN" dirty="0"/>
              <a:t>Aggregates and processes data locally every 10 seconds</a:t>
            </a:r>
          </a:p>
          <a:p>
            <a:r>
              <a:rPr lang="en-IN" dirty="0"/>
              <a:t>Dispatches enriched payload to AWS IoT Core over MQTT/TLS</a:t>
            </a:r>
          </a:p>
          <a:p>
            <a:pPr marL="0" indent="0">
              <a:buNone/>
            </a:pPr>
            <a:r>
              <a:rPr lang="en-IN" b="1" dirty="0"/>
              <a:t>Cloud Backend Layer</a:t>
            </a:r>
          </a:p>
          <a:p>
            <a:r>
              <a:rPr lang="en-IN" dirty="0"/>
              <a:t>AWS IoT Core → SQS → Lambda → DynamoDB → API Gateway</a:t>
            </a:r>
          </a:p>
          <a:p>
            <a:r>
              <a:rPr lang="en-IN" dirty="0"/>
              <a:t>Fully serverless, event-driven, auto-scaling pipeline</a:t>
            </a:r>
          </a:p>
          <a:p>
            <a:r>
              <a:rPr lang="en-IN" dirty="0"/>
              <a:t>React dashboard polls API every 5 seconds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8231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6567-4C9F-2AF2-E8BC-6C14DE005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66800"/>
          </a:xfrm>
        </p:spPr>
        <p:txBody>
          <a:bodyPr/>
          <a:lstStyle/>
          <a:p>
            <a:r>
              <a:rPr lang="en-IN" b="1" dirty="0"/>
              <a:t>Sensor Layer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66C09C-5CBA-AFE5-6C62-E1440C1262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0490652"/>
              </p:ext>
            </p:extLst>
          </p:nvPr>
        </p:nvGraphicFramePr>
        <p:xfrm>
          <a:off x="368968" y="1066799"/>
          <a:ext cx="11277600" cy="5590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>
                  <a:extLst>
                    <a:ext uri="{9D8B030D-6E8A-4147-A177-3AD203B41FA5}">
                      <a16:colId xmlns:a16="http://schemas.microsoft.com/office/drawing/2014/main" val="2663475920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3956121774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794104870"/>
                    </a:ext>
                  </a:extLst>
                </a:gridCol>
              </a:tblGrid>
              <a:tr h="559067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Air Quality Sensor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Simulates data that may come from sensors like 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</a:rPr>
                        <a:t>Sensirion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 SCD40 CO2 and particulate sensor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Metrics: CO2 ppm, PM2.5, humidity, air quality index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Publishes every 4 seconds to stadium/sensors/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</a:rPr>
                        <a:t>air_quality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Noise Level Sensor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Simulates a digital sound level meter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Metrics: average dB, peak dB, category (quiet/normal/loud/very loud)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Publishes every 3 seconds to stadium/sensors/</a:t>
                      </a:r>
                      <a:r>
                        <a:rPr lang="en-IN" b="0" dirty="0" err="1">
                          <a:solidFill>
                            <a:schemeClr val="bg1"/>
                          </a:solidFill>
                        </a:rPr>
                        <a:t>noise_level</a:t>
                      </a:r>
                      <a:endParaRPr lang="en-IN" b="0" dirty="0">
                        <a:solidFill>
                          <a:schemeClr val="bg1"/>
                        </a:solidFill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Queue Wait Sensor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Simulates infrared beam counters at concession stand entrances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Metrics: queue length, wait time in minutes, best stand recommendation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Publishes every 5 seconds to stadium/sensors/</a:t>
                      </a:r>
                      <a:r>
                        <a:rPr lang="en-IN" b="0" dirty="0" err="1">
                          <a:solidFill>
                            <a:schemeClr val="bg1"/>
                          </a:solidFill>
                        </a:rPr>
                        <a:t>queue_wait</a:t>
                      </a:r>
                      <a:endParaRPr lang="en-IN" b="0" dirty="0">
                        <a:solidFill>
                          <a:schemeClr val="bg1"/>
                        </a:solidFill>
                      </a:endParaRPr>
                    </a:p>
                    <a:p>
                      <a:endParaRPr lang="en-IN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1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40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D099C-5150-103B-20B7-9983F9CEA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414292" cy="1066800"/>
          </a:xfrm>
        </p:spPr>
        <p:txBody>
          <a:bodyPr/>
          <a:lstStyle/>
          <a:p>
            <a:r>
              <a:rPr lang="en-IN" b="1" dirty="0"/>
              <a:t>Fog Layer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30B4A8-753B-14BB-844D-1DF6416E6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739130"/>
            <a:ext cx="981534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Subscribes to all 3 sensor topics via local MQTT broker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Buffers incoming readings in a thread-safe in-memory list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Every 10 seconds: processes buffer, computes aggregates, clears buffer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Publishes a single enriched payload to AWS IoT Core over MQTT/TLS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400" cap="non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and peak decibel calculation for noise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cap="non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Average CO2 and PM2.5 for air quality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cap="non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Best stand identification and wait time averaging for queues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cap="non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Alert flag derivation based on threshold logic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271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41C6B-D151-B927-C879-8F3DF583D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4274"/>
            <a:ext cx="9510545" cy="962526"/>
          </a:xfrm>
        </p:spPr>
        <p:txBody>
          <a:bodyPr/>
          <a:lstStyle/>
          <a:p>
            <a:r>
              <a:rPr lang="en-IN" b="1" dirty="0"/>
              <a:t>Cloud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EB858-3773-722B-21B8-76A439838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066801"/>
            <a:ext cx="9510545" cy="4724400"/>
          </a:xfrm>
        </p:spPr>
        <p:txBody>
          <a:bodyPr/>
          <a:lstStyle/>
          <a:p>
            <a:r>
              <a:rPr lang="en-IN" dirty="0"/>
              <a:t>AWS IoT Core</a:t>
            </a:r>
          </a:p>
          <a:p>
            <a:r>
              <a:rPr lang="en-IN" dirty="0"/>
              <a:t>Amazon SQS</a:t>
            </a:r>
          </a:p>
          <a:p>
            <a:r>
              <a:rPr lang="en-IN" dirty="0"/>
              <a:t>AWS Lambda</a:t>
            </a:r>
          </a:p>
          <a:p>
            <a:r>
              <a:rPr lang="en-IN" dirty="0"/>
              <a:t>Amazon DynamoDB</a:t>
            </a:r>
          </a:p>
          <a:p>
            <a:r>
              <a:rPr lang="en-IN" dirty="0"/>
              <a:t>Amazon API Gateway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5833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5C98-5DBA-227A-F8E2-49CD8E63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214084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32</TotalTime>
  <Words>360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Mesh</vt:lpstr>
      <vt:lpstr>Smart Stadium Experience Enhancement System </vt:lpstr>
      <vt:lpstr>Objective</vt:lpstr>
      <vt:lpstr>System architecture</vt:lpstr>
      <vt:lpstr>System architecture</vt:lpstr>
      <vt:lpstr>Sensor Layer</vt:lpstr>
      <vt:lpstr>Fog Layer</vt:lpstr>
      <vt:lpstr>Cloud Backend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Joy Kandamkulathy</dc:creator>
  <cp:lastModifiedBy>John Joy Kandamkulathy</cp:lastModifiedBy>
  <cp:revision>1</cp:revision>
  <dcterms:created xsi:type="dcterms:W3CDTF">2026-04-19T22:41:49Z</dcterms:created>
  <dcterms:modified xsi:type="dcterms:W3CDTF">2026-04-19T23:14:48Z</dcterms:modified>
</cp:coreProperties>
</file>